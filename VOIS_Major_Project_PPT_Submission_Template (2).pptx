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53772" y="3538509"/>
            <a:ext cx="4730620" cy="369333"/>
          </a:xfrm>
        </p:spPr>
        <p:txBody>
          <a:bodyPr vert="horz" lIns="91440" tIns="45720" rIns="91440" bIns="45720" rtlCol="0" anchor="t">
            <a:normAutofit fontScale="92500" lnSpcReduction="10000"/>
          </a:bodyPr>
          <a:lstStyle/>
          <a:p>
            <a:pPr algn="r"/>
            <a:r>
              <a:rPr lang="en-US" dirty="0">
                <a:solidFill>
                  <a:schemeClr val="tx1"/>
                </a:solidFill>
              </a:rPr>
              <a:t>Student Name : Alyana Pradeep kumar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182469"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16313"/>
            <a:ext cx="4998719" cy="369332"/>
          </a:xfrm>
          <a:prstGeom prst="rect">
            <a:avLst/>
          </a:prstGeom>
          <a:noFill/>
        </p:spPr>
        <p:txBody>
          <a:bodyPr wrap="square" rtlCol="0">
            <a:spAutoFit/>
          </a:bodyPr>
          <a:lstStyle/>
          <a:p>
            <a:r>
              <a:rPr lang="en-US" b="1" dirty="0"/>
              <a:t>AICTE STU ID : </a:t>
            </a:r>
            <a:r>
              <a:rPr lang="en-IN" b="1" dirty="0">
                <a:latin typeface="Times New Roman" panose="02020603050405020304" pitchFamily="18" charset="0"/>
                <a:cs typeface="Times New Roman" panose="02020603050405020304" pitchFamily="18" charset="0"/>
              </a:rPr>
              <a:t>STU66d3298981df61725114761</a:t>
            </a:r>
            <a:endParaRPr lang="en-US" b="1" dirty="0"/>
          </a:p>
        </p:txBody>
      </p:sp>
      <p:sp>
        <p:nvSpPr>
          <p:cNvPr id="5" name="TextBox 4">
            <a:extLst>
              <a:ext uri="{FF2B5EF4-FFF2-40B4-BE49-F238E27FC236}">
                <a16:creationId xmlns:a16="http://schemas.microsoft.com/office/drawing/2014/main" id="{0882CEFA-10D2-6705-06F7-08B325ECAC0F}"/>
              </a:ext>
            </a:extLst>
          </p:cNvPr>
          <p:cNvSpPr txBox="1"/>
          <p:nvPr/>
        </p:nvSpPr>
        <p:spPr>
          <a:xfrm>
            <a:off x="675957" y="4079303"/>
            <a:ext cx="5772799" cy="369332"/>
          </a:xfrm>
          <a:prstGeom prst="rect">
            <a:avLst/>
          </a:prstGeom>
          <a:noFill/>
        </p:spPr>
        <p:txBody>
          <a:bodyPr wrap="none" rtlCol="0">
            <a:spAutoFit/>
          </a:bodyPr>
          <a:lstStyle/>
          <a:p>
            <a:r>
              <a:rPr lang="en-US" b="1" dirty="0"/>
              <a:t>College Name- Institute of Aeronautical Engineering</a:t>
            </a:r>
            <a:endParaRPr lang="en-IN"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93040"/>
            <a:ext cx="6276109" cy="473081"/>
          </a:xfrm>
        </p:spPr>
        <p:txBody>
          <a:bodyPr>
            <a:noAutofit/>
          </a:bodyPr>
          <a:lstStyle/>
          <a:p>
            <a:pPr marL="342900" lvl="0" indent="-342900">
              <a:buFont typeface="Arial" panose="020B0604020202020204" pitchFamily="34" charset="0"/>
              <a:buChar char="•"/>
            </a:pPr>
            <a:r>
              <a:rPr lang="en-GB" sz="2400" dirty="0"/>
              <a:t>Project Description</a:t>
            </a:r>
            <a:br>
              <a:rPr lang="en-GB" sz="2000" b="0" dirty="0"/>
            </a:br>
            <a:br>
              <a:rPr lang="en-GB" sz="2000" b="0" dirty="0"/>
            </a:b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278D06B2-87FB-FEC2-F75B-40186E03447A}"/>
              </a:ext>
            </a:extLst>
          </p:cNvPr>
          <p:cNvSpPr txBox="1"/>
          <p:nvPr/>
        </p:nvSpPr>
        <p:spPr>
          <a:xfrm>
            <a:off x="304022" y="1172741"/>
            <a:ext cx="9182878" cy="646331"/>
          </a:xfrm>
          <a:prstGeom prst="rect">
            <a:avLst/>
          </a:prstGeom>
          <a:noFill/>
        </p:spPr>
        <p:txBody>
          <a:bodyPr wrap="square" rtlCol="0">
            <a:spAutoFit/>
          </a:bodyPr>
          <a:lstStyle/>
          <a:p>
            <a:pPr marL="285750" indent="-285750">
              <a:buFont typeface="Arial" panose="020B0604020202020204" pitchFamily="34" charset="0"/>
              <a:buChar char="•"/>
            </a:pPr>
            <a:r>
              <a:rPr lang="en-IN" dirty="0"/>
              <a:t>Dataset Scope: Comprehensive analysis of 4,000 farm profiles across 8 agricultural states covering Kharif, Rabi, and Zaid seasons. </a:t>
            </a:r>
          </a:p>
        </p:txBody>
      </p:sp>
      <p:sp>
        <p:nvSpPr>
          <p:cNvPr id="4" name="TextBox 3">
            <a:extLst>
              <a:ext uri="{FF2B5EF4-FFF2-40B4-BE49-F238E27FC236}">
                <a16:creationId xmlns:a16="http://schemas.microsoft.com/office/drawing/2014/main" id="{E5AA7736-635C-2A81-D750-621461CE17B0}"/>
              </a:ext>
            </a:extLst>
          </p:cNvPr>
          <p:cNvSpPr txBox="1"/>
          <p:nvPr/>
        </p:nvSpPr>
        <p:spPr>
          <a:xfrm>
            <a:off x="304022" y="2104910"/>
            <a:ext cx="7466434" cy="923330"/>
          </a:xfrm>
          <a:prstGeom prst="rect">
            <a:avLst/>
          </a:prstGeom>
          <a:noFill/>
        </p:spPr>
        <p:txBody>
          <a:bodyPr wrap="square" rtlCol="0">
            <a:spAutoFit/>
          </a:bodyPr>
          <a:lstStyle/>
          <a:p>
            <a:pPr marL="285750" indent="-285750">
              <a:buFont typeface="Arial" panose="020B0604020202020204" pitchFamily="34" charset="0"/>
              <a:buChar char="•"/>
            </a:pPr>
            <a:r>
              <a:rPr lang="en-IN" dirty="0"/>
              <a:t>Data Engineering: End-to-end cleaning pipeline featuring season-specific median imputation for weather/yield attributes and Interquartile Range (IQR) outlier screening. </a:t>
            </a:r>
          </a:p>
        </p:txBody>
      </p:sp>
      <p:sp>
        <p:nvSpPr>
          <p:cNvPr id="7" name="TextBox 6">
            <a:extLst>
              <a:ext uri="{FF2B5EF4-FFF2-40B4-BE49-F238E27FC236}">
                <a16:creationId xmlns:a16="http://schemas.microsoft.com/office/drawing/2014/main" id="{C0056C5E-A3C2-1C9E-B367-6CC721843C77}"/>
              </a:ext>
            </a:extLst>
          </p:cNvPr>
          <p:cNvSpPr txBox="1"/>
          <p:nvPr/>
        </p:nvSpPr>
        <p:spPr>
          <a:xfrm>
            <a:off x="304022" y="3223271"/>
            <a:ext cx="5895197" cy="923330"/>
          </a:xfrm>
          <a:prstGeom prst="rect">
            <a:avLst/>
          </a:prstGeom>
          <a:noFill/>
        </p:spPr>
        <p:txBody>
          <a:bodyPr wrap="square" rtlCol="0">
            <a:spAutoFit/>
          </a:bodyPr>
          <a:lstStyle/>
          <a:p>
            <a:pPr marL="285750" indent="-285750">
              <a:buFont typeface="Arial" panose="020B0604020202020204" pitchFamily="34" charset="0"/>
              <a:buChar char="•"/>
            </a:pPr>
            <a:r>
              <a:rPr lang="en-IN" dirty="0"/>
              <a:t>Analytical Workflow: Conducts univariate, bivariate, multivariate, and correlation evaluations alongside 3 targeted analytical investigations.</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784D2AC-A9D4-73C5-3B94-430D961072BD}"/>
                  </a:ext>
                </a:extLst>
              </p:cNvPr>
              <p:cNvSpPr txBox="1"/>
              <p:nvPr/>
            </p:nvSpPr>
            <p:spPr>
              <a:xfrm>
                <a:off x="304022" y="4368770"/>
                <a:ext cx="8932312" cy="923330"/>
              </a:xfrm>
              <a:prstGeom prst="rect">
                <a:avLst/>
              </a:prstGeom>
              <a:noFill/>
            </p:spPr>
            <p:txBody>
              <a:bodyPr wrap="square" rtlCol="0">
                <a:spAutoFit/>
              </a:bodyPr>
              <a:lstStyle/>
              <a:p>
                <a:pPr marL="285750" indent="-285750">
                  <a:buFont typeface="Arial" panose="020B0604020202020204" pitchFamily="34" charset="0"/>
                  <a:buChar char="•"/>
                </a:pPr>
                <a:r>
                  <a:rPr lang="en-IN" dirty="0"/>
                  <a:t>Predictive </a:t>
                </a:r>
                <a:r>
                  <a:rPr lang="en-IN" dirty="0" err="1"/>
                  <a:t>Modeling</a:t>
                </a:r>
                <a:r>
                  <a:rPr lang="en-IN" dirty="0"/>
                  <a:t>: Integrates a Random Forest Regressor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a:latin typeface="Cambria Math" panose="02040503050406030204" pitchFamily="18" charset="0"/>
                          </a:rPr>
                          <m:t>2</m:t>
                        </m:r>
                      </m:sup>
                    </m:sSup>
                    <m:r>
                      <a:rPr lang="en-IN">
                        <a:latin typeface="Cambria Math" panose="02040503050406030204" pitchFamily="18" charset="0"/>
                      </a:rPr>
                      <m:t>≈0.88</m:t>
                    </m:r>
                  </m:oMath>
                </a14:m>
                <a:r>
                  <a:rPr lang="en-IN" dirty="0"/>
                  <a:t>) to quantify the feature importance of soil moisture, irrigation methods, and climate parameters on final harvest yield.</a:t>
                </a:r>
              </a:p>
            </p:txBody>
          </p:sp>
        </mc:Choice>
        <mc:Fallback>
          <p:sp>
            <p:nvSpPr>
              <p:cNvPr id="8" name="TextBox 7">
                <a:extLst>
                  <a:ext uri="{FF2B5EF4-FFF2-40B4-BE49-F238E27FC236}">
                    <a16:creationId xmlns:a16="http://schemas.microsoft.com/office/drawing/2014/main" id="{A784D2AC-A9D4-73C5-3B94-430D961072BD}"/>
                  </a:ext>
                </a:extLst>
              </p:cNvPr>
              <p:cNvSpPr txBox="1">
                <a:spLocks noRot="1" noChangeAspect="1" noMove="1" noResize="1" noEditPoints="1" noAdjustHandles="1" noChangeArrowheads="1" noChangeShapeType="1" noTextEdit="1"/>
              </p:cNvSpPr>
              <p:nvPr/>
            </p:nvSpPr>
            <p:spPr>
              <a:xfrm>
                <a:off x="304022" y="4368770"/>
                <a:ext cx="8932312" cy="923330"/>
              </a:xfrm>
              <a:prstGeom prst="rect">
                <a:avLst/>
              </a:prstGeom>
              <a:blipFill>
                <a:blip r:embed="rId4"/>
                <a:stretch>
                  <a:fillRect l="-478" t="-4636" r="-1024" b="-9272"/>
                </a:stretch>
              </a:blipFill>
            </p:spPr>
            <p:txBody>
              <a:bodyPr/>
              <a:lstStyle/>
              <a:p>
                <a:r>
                  <a:rPr lang="en-IN">
                    <a:noFill/>
                  </a:rPr>
                  <a:t> </a:t>
                </a:r>
              </a:p>
            </p:txBody>
          </p:sp>
        </mc:Fallback>
      </mc:AlternateContent>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t>Farmers &amp; Producer Cooperatives:</a:t>
            </a:r>
            <a:r>
              <a:rPr lang="en-IN" dirty="0"/>
              <a:t> To select optimal seasonal crops, rationalize fertilizer application rates, and deploy high-efficiency irrigation methods. </a:t>
            </a:r>
          </a:p>
          <a:p>
            <a:pPr lvl="0"/>
            <a:r>
              <a:rPr lang="en-IN" b="1" dirty="0"/>
              <a:t>Agricultural Policy Planners &amp; Extension Officers:</a:t>
            </a:r>
            <a:r>
              <a:rPr lang="en-IN" dirty="0"/>
              <a:t> To design season-specific water quotas, targeted micro-irrigation subsidies, and climate-resilience advisories. </a:t>
            </a:r>
          </a:p>
          <a:p>
            <a:pPr lvl="0"/>
            <a:r>
              <a:rPr lang="en-IN" b="1" dirty="0" err="1"/>
              <a:t>Agrifinance</a:t>
            </a:r>
            <a:r>
              <a:rPr lang="en-IN" b="1" dirty="0"/>
              <a:t> &amp; Crop Insurance Providers:</a:t>
            </a:r>
            <a:r>
              <a:rPr lang="en-IN" dirty="0"/>
              <a:t> To evaluate seasonal default risks, calibrate indemnity thresholds, and structure season-contingent agricultural credit lines.</a:t>
            </a:r>
          </a:p>
          <a:p>
            <a:pPr marL="0" indent="0" algn="just">
              <a:lnSpc>
                <a:spcPct val="150000"/>
              </a:lnSpc>
              <a:buNone/>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Core Language &amp; Runtime:</a:t>
            </a:r>
            <a:r>
              <a:rPr lang="en-IN" dirty="0"/>
              <a:t> Python 3.10+ executed via Google </a:t>
            </a:r>
            <a:r>
              <a:rPr lang="en-IN" dirty="0" err="1"/>
              <a:t>Colab</a:t>
            </a:r>
            <a:r>
              <a:rPr lang="en-IN" dirty="0"/>
              <a:t> / Jupyter Notebook. </a:t>
            </a:r>
          </a:p>
          <a:p>
            <a:pPr lvl="0"/>
            <a:r>
              <a:rPr lang="en-IN" b="1" dirty="0"/>
              <a:t>Data Processing &amp; Cleaning:</a:t>
            </a:r>
            <a:r>
              <a:rPr lang="en-IN" dirty="0"/>
              <a:t> Pandas (</a:t>
            </a:r>
            <a:r>
              <a:rPr lang="en-IN" dirty="0" err="1"/>
              <a:t>DataFrame</a:t>
            </a:r>
            <a:r>
              <a:rPr lang="en-IN" dirty="0"/>
              <a:t> operations, groupwise transformations) and NumPy (numerical transformations). </a:t>
            </a:r>
          </a:p>
          <a:p>
            <a:pPr lvl="0"/>
            <a:r>
              <a:rPr lang="en-IN" b="1" dirty="0"/>
              <a:t>Data Visualization:</a:t>
            </a:r>
            <a:r>
              <a:rPr lang="en-IN" dirty="0"/>
              <a:t> Seaborn and Matplotlib (distribution plots, bivariate comparisons, correlation heatmaps). </a:t>
            </a:r>
          </a:p>
          <a:p>
            <a:pPr lvl="0"/>
            <a:r>
              <a:rPr lang="en-IN" b="1" dirty="0"/>
              <a:t>Statistical &amp; Machine Learning:</a:t>
            </a:r>
            <a:r>
              <a:rPr lang="en-IN" dirty="0"/>
              <a:t> Scikit-Learn (Random Forest Regressor, Train-Test Split, regression evaluation metrics).</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C974E93A-1E31-4DA9-17BF-499E16B0AC67}"/>
              </a:ext>
            </a:extLst>
          </p:cNvPr>
          <p:cNvSpPr txBox="1"/>
          <p:nvPr/>
        </p:nvSpPr>
        <p:spPr>
          <a:xfrm>
            <a:off x="675957" y="940329"/>
            <a:ext cx="7376363"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Kharif Season Highs:</a:t>
            </a:r>
            <a:r>
              <a:rPr lang="en-IN" dirty="0"/>
              <a:t> Kharif recorded the highest agricultural performance, achieving an average yield of </a:t>
            </a:r>
            <a:r>
              <a:rPr lang="en-IN" b="1" dirty="0"/>
              <a:t>5.63 tonnes/ha</a:t>
            </a:r>
            <a:r>
              <a:rPr lang="en-IN" dirty="0"/>
              <a:t> and a mean net profit of </a:t>
            </a:r>
            <a:r>
              <a:rPr lang="en-IN" b="1" dirty="0"/>
              <a:t>₹1,78,914</a:t>
            </a:r>
            <a:r>
              <a:rPr lang="en-IN" dirty="0"/>
              <a:t>, supported by monsoon rainfall averaging </a:t>
            </a:r>
            <a:r>
              <a:rPr lang="en-IN" b="1" dirty="0"/>
              <a:t>852.1 mm</a:t>
            </a:r>
            <a:r>
              <a:rPr lang="en-IN" dirty="0"/>
              <a:t>.</a:t>
            </a:r>
          </a:p>
          <a:p>
            <a:pPr lvl="0"/>
            <a:endParaRPr lang="en-IN" dirty="0"/>
          </a:p>
          <a:p>
            <a:pPr marL="285750" lvl="0" indent="-285750">
              <a:buFont typeface="Arial" panose="020B0604020202020204" pitchFamily="34" charset="0"/>
              <a:buChar char="•"/>
            </a:pPr>
            <a:r>
              <a:rPr lang="en-IN" b="1" dirty="0"/>
              <a:t>Rabi Steady Returns:</a:t>
            </a:r>
            <a:r>
              <a:rPr lang="en-IN" dirty="0"/>
              <a:t> Rabi operations maintained stable productivity with an average yield of </a:t>
            </a:r>
            <a:r>
              <a:rPr lang="en-IN" b="1" dirty="0"/>
              <a:t>5.04 tonnes/ha</a:t>
            </a:r>
            <a:r>
              <a:rPr lang="en-IN" dirty="0"/>
              <a:t> and net profit of </a:t>
            </a:r>
            <a:r>
              <a:rPr lang="en-IN" b="1" dirty="0"/>
              <a:t>₹87,689</a:t>
            </a:r>
            <a:r>
              <a:rPr lang="en-IN" dirty="0"/>
              <a:t> under moderate moisture conditions.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Zaid Economic Losses:</a:t>
            </a:r>
            <a:r>
              <a:rPr lang="en-IN" dirty="0"/>
              <a:t> Zaid farms suffered severe financial deficits averaging </a:t>
            </a:r>
            <a:r>
              <a:rPr lang="en-IN" b="1" dirty="0"/>
              <a:t>-₹24,805</a:t>
            </a:r>
            <a:r>
              <a:rPr lang="en-IN" dirty="0"/>
              <a:t> per farm due to elevated temperatures (</a:t>
            </a:r>
            <a:r>
              <a:rPr lang="en-IN" b="1" dirty="0"/>
              <a:t>31.04°C</a:t>
            </a:r>
            <a:r>
              <a:rPr lang="en-IN" dirty="0"/>
              <a:t>) and limited rainfall (</a:t>
            </a:r>
            <a:r>
              <a:rPr lang="en-IN" b="1" dirty="0"/>
              <a:t>299.1 mm</a:t>
            </a:r>
            <a:r>
              <a:rPr lang="en-IN" dirty="0"/>
              <a:t>). </a:t>
            </a:r>
          </a:p>
          <a:p>
            <a:pPr marL="285750" indent="-285750">
              <a:buFont typeface="Arial" panose="020B0604020202020204" pitchFamily="34" charset="0"/>
              <a:buChar char="•"/>
            </a:pPr>
            <a:endParaRPr lang="en-IN" dirty="0"/>
          </a:p>
        </p:txBody>
      </p:sp>
      <p:pic>
        <p:nvPicPr>
          <p:cNvPr id="12" name="Picture 11">
            <a:extLst>
              <a:ext uri="{FF2B5EF4-FFF2-40B4-BE49-F238E27FC236}">
                <a16:creationId xmlns:a16="http://schemas.microsoft.com/office/drawing/2014/main" id="{DA0F32C6-E78E-B322-0175-F943D6A3FE77}"/>
              </a:ext>
            </a:extLst>
          </p:cNvPr>
          <p:cNvPicPr>
            <a:picLocks noChangeAspect="1"/>
          </p:cNvPicPr>
          <p:nvPr/>
        </p:nvPicPr>
        <p:blipFill>
          <a:blip r:embed="rId3"/>
          <a:stretch>
            <a:fillRect/>
          </a:stretch>
        </p:blipFill>
        <p:spPr>
          <a:xfrm>
            <a:off x="1188321" y="4860716"/>
            <a:ext cx="2476222" cy="1867939"/>
          </a:xfrm>
          <a:prstGeom prst="rect">
            <a:avLst/>
          </a:prstGeom>
        </p:spPr>
      </p:pic>
      <p:pic>
        <p:nvPicPr>
          <p:cNvPr id="14" name="Picture 13">
            <a:extLst>
              <a:ext uri="{FF2B5EF4-FFF2-40B4-BE49-F238E27FC236}">
                <a16:creationId xmlns:a16="http://schemas.microsoft.com/office/drawing/2014/main" id="{4C70D423-EF19-0B80-0098-879CA01F4772}"/>
              </a:ext>
            </a:extLst>
          </p:cNvPr>
          <p:cNvPicPr>
            <a:picLocks noChangeAspect="1"/>
          </p:cNvPicPr>
          <p:nvPr/>
        </p:nvPicPr>
        <p:blipFill>
          <a:blip r:embed="rId4"/>
          <a:stretch>
            <a:fillRect/>
          </a:stretch>
        </p:blipFill>
        <p:spPr>
          <a:xfrm>
            <a:off x="4607430" y="4895765"/>
            <a:ext cx="2476222" cy="183289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0E851E0-4A26-5B66-8CD4-1BFDB5B173F0}"/>
              </a:ext>
            </a:extLst>
          </p:cNvPr>
          <p:cNvSpPr txBox="1"/>
          <p:nvPr/>
        </p:nvSpPr>
        <p:spPr>
          <a:xfrm>
            <a:off x="675957" y="1069430"/>
            <a:ext cx="7199151"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Seasonal Median Imputation:</a:t>
            </a:r>
            <a:r>
              <a:rPr lang="en-IN" dirty="0"/>
              <a:t> Handled missing values across </a:t>
            </a:r>
            <a:r>
              <a:rPr lang="en-IN" dirty="0" err="1"/>
              <a:t>Rainfall_mm</a:t>
            </a:r>
            <a:r>
              <a:rPr lang="en-IN" dirty="0"/>
              <a:t> (48), </a:t>
            </a:r>
            <a:r>
              <a:rPr lang="en-IN" dirty="0" err="1"/>
              <a:t>Soil_Moisture_pct</a:t>
            </a:r>
            <a:r>
              <a:rPr lang="en-IN" dirty="0"/>
              <a:t> (40), and </a:t>
            </a:r>
            <a:r>
              <a:rPr lang="en-IN" dirty="0" err="1"/>
              <a:t>Yield_Tonnes_Ha</a:t>
            </a:r>
            <a:r>
              <a:rPr lang="en-IN" dirty="0"/>
              <a:t> (32) using season-specific medians to prevent seasonal data leakage.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Outlier Identification:</a:t>
            </a:r>
            <a:r>
              <a:rPr lang="en-IN" dirty="0"/>
              <a:t> Implemented Interquartile Range (IQR) detection to screen anomalous extreme values in production costs and financial margins across 4,000 farm profiles.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Dataset Integrity Verified:</a:t>
            </a:r>
            <a:r>
              <a:rPr lang="en-IN" dirty="0"/>
              <a:t> Confirmed zero duplicate records and established clean distributions across all agronomic and economic variables</a:t>
            </a:r>
          </a:p>
          <a:p>
            <a:pPr marL="285750" indent="-285750">
              <a:buFont typeface="Arial" panose="020B0604020202020204" pitchFamily="34" charset="0"/>
              <a:buChar char="•"/>
            </a:pPr>
            <a:endParaRPr lang="en-IN" dirty="0"/>
          </a:p>
        </p:txBody>
      </p:sp>
      <p:pic>
        <p:nvPicPr>
          <p:cNvPr id="9" name="Picture 8">
            <a:extLst>
              <a:ext uri="{FF2B5EF4-FFF2-40B4-BE49-F238E27FC236}">
                <a16:creationId xmlns:a16="http://schemas.microsoft.com/office/drawing/2014/main" id="{A51AD4FC-87B1-7C71-3090-244B2830EF58}"/>
              </a:ext>
            </a:extLst>
          </p:cNvPr>
          <p:cNvPicPr>
            <a:picLocks noChangeAspect="1"/>
          </p:cNvPicPr>
          <p:nvPr/>
        </p:nvPicPr>
        <p:blipFill>
          <a:blip r:embed="rId3"/>
          <a:stretch>
            <a:fillRect/>
          </a:stretch>
        </p:blipFill>
        <p:spPr>
          <a:xfrm>
            <a:off x="864728" y="4544008"/>
            <a:ext cx="2799815" cy="1842035"/>
          </a:xfrm>
          <a:prstGeom prst="rect">
            <a:avLst/>
          </a:prstGeom>
        </p:spPr>
      </p:pic>
      <p:pic>
        <p:nvPicPr>
          <p:cNvPr id="12" name="Picture 11">
            <a:extLst>
              <a:ext uri="{FF2B5EF4-FFF2-40B4-BE49-F238E27FC236}">
                <a16:creationId xmlns:a16="http://schemas.microsoft.com/office/drawing/2014/main" id="{3C45E92C-5A96-3305-BEA6-8BF9E1C726C9}"/>
              </a:ext>
            </a:extLst>
          </p:cNvPr>
          <p:cNvPicPr>
            <a:picLocks noChangeAspect="1"/>
          </p:cNvPicPr>
          <p:nvPr/>
        </p:nvPicPr>
        <p:blipFill>
          <a:blip r:embed="rId4"/>
          <a:stretch>
            <a:fillRect/>
          </a:stretch>
        </p:blipFill>
        <p:spPr>
          <a:xfrm>
            <a:off x="3956179" y="4544008"/>
            <a:ext cx="5623437" cy="177281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b="0" dirty="0"/>
              <a:t>RESULTS </a:t>
            </a:r>
            <a:endParaRPr lang="en-IN" b="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ext Placeholder 10">
            <a:extLst>
              <a:ext uri="{FF2B5EF4-FFF2-40B4-BE49-F238E27FC236}">
                <a16:creationId xmlns:a16="http://schemas.microsoft.com/office/drawing/2014/main" id="{AA34E076-E485-A30F-2C6C-76D8264C84C9}"/>
              </a:ext>
            </a:extLst>
          </p:cNvPr>
          <p:cNvSpPr>
            <a:spLocks noGrp="1"/>
          </p:cNvSpPr>
          <p:nvPr>
            <p:ph type="body" sz="quarter" idx="12"/>
          </p:nvPr>
        </p:nvSpPr>
        <p:spPr>
          <a:xfrm>
            <a:off x="585035" y="1201586"/>
            <a:ext cx="7942424" cy="3199104"/>
          </a:xfrm>
        </p:spPr>
        <p:txBody>
          <a:bodyPr>
            <a:normAutofit/>
          </a:bodyPr>
          <a:lstStyle/>
          <a:p>
            <a:pPr lvl="0"/>
            <a:r>
              <a:rPr lang="en-IN" b="1" dirty="0"/>
              <a:t>Micro-Irrigation Outperformance</a:t>
            </a:r>
            <a:r>
              <a:rPr lang="en-IN" dirty="0"/>
              <a:t>: Drip irrigation achieved a water efficiency of 6.27 t/1,000 m³, outperforming conventional Flood irrigation (3.44 t/1,000 m³) by over 82%. </a:t>
            </a:r>
          </a:p>
          <a:p>
            <a:pPr lvl="0"/>
            <a:r>
              <a:rPr lang="en-IN" b="1" dirty="0"/>
              <a:t>Substantial Water Savings: </a:t>
            </a:r>
            <a:r>
              <a:rPr lang="en-IN" dirty="0"/>
              <a:t>Drip systems consumed an average of 5,918.75 m³ per farm compared to 8,026.47 m³ for Flood systems, saving 26.2% water per cycle. </a:t>
            </a:r>
          </a:p>
          <a:p>
            <a:pPr lvl="0"/>
            <a:r>
              <a:rPr lang="en-IN" b="1" dirty="0"/>
              <a:t>Three-Fold Profit Dividend: </a:t>
            </a:r>
            <a:r>
              <a:rPr lang="en-IN" dirty="0"/>
              <a:t>Farms utilizing Drip irrigation achieved an average profit of ₹2,19,626, compared to only ₹73,354 for Flood-irrigated holdings</a:t>
            </a:r>
          </a:p>
          <a:p>
            <a:endParaRPr lang="en-IN" dirty="0"/>
          </a:p>
        </p:txBody>
      </p:sp>
      <p:pic>
        <p:nvPicPr>
          <p:cNvPr id="13" name="Picture 12">
            <a:extLst>
              <a:ext uri="{FF2B5EF4-FFF2-40B4-BE49-F238E27FC236}">
                <a16:creationId xmlns:a16="http://schemas.microsoft.com/office/drawing/2014/main" id="{F833F293-36B3-D637-4EB9-98171EDC622A}"/>
              </a:ext>
            </a:extLst>
          </p:cNvPr>
          <p:cNvPicPr>
            <a:picLocks noChangeAspect="1"/>
          </p:cNvPicPr>
          <p:nvPr/>
        </p:nvPicPr>
        <p:blipFill>
          <a:blip r:embed="rId3"/>
          <a:stretch>
            <a:fillRect/>
          </a:stretch>
        </p:blipFill>
        <p:spPr>
          <a:xfrm>
            <a:off x="2878178" y="4474475"/>
            <a:ext cx="2935031" cy="222454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B1DA19E-547F-2ED2-3716-5054592BB4C2}"/>
              </a:ext>
            </a:extLst>
          </p:cNvPr>
          <p:cNvSpPr txBox="1"/>
          <p:nvPr/>
        </p:nvSpPr>
        <p:spPr>
          <a:xfrm>
            <a:off x="583799" y="1092433"/>
            <a:ext cx="7105456"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Commercial Crop Resilience: </a:t>
            </a:r>
            <a:r>
              <a:rPr lang="en-IN" dirty="0"/>
              <a:t>Cash crops such as Sugarcane (averaging &gt;₹5,83,000) and Chilli (averaging &gt;₹4,48,000) maintained high profitability across all three seasons.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Severe Cereal Vulnerability: </a:t>
            </a:r>
            <a:r>
              <a:rPr lang="en-IN" dirty="0"/>
              <a:t>Staple food grains (Rice, Wheat, and Maize) incurred steep losses during the dry Zaid season (exceeding -₹1,90,000 per farm).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Prescriptive Crop Switching: </a:t>
            </a:r>
            <a:r>
              <a:rPr lang="en-IN" dirty="0"/>
              <a:t>Demonstrated that shifting farm acreage from water-intensive summer grains to resilient horticulture prevents off-season agricultural bankruptcy. </a:t>
            </a:r>
          </a:p>
          <a:p>
            <a:pPr marL="285750" indent="-285750">
              <a:buFont typeface="Arial" panose="020B0604020202020204" pitchFamily="34" charset="0"/>
              <a:buChar char="•"/>
            </a:pPr>
            <a:endParaRPr lang="en-IN" dirty="0"/>
          </a:p>
        </p:txBody>
      </p:sp>
      <p:pic>
        <p:nvPicPr>
          <p:cNvPr id="12" name="Picture 11">
            <a:extLst>
              <a:ext uri="{FF2B5EF4-FFF2-40B4-BE49-F238E27FC236}">
                <a16:creationId xmlns:a16="http://schemas.microsoft.com/office/drawing/2014/main" id="{842BCF21-79AF-0697-6537-957A01B54A7B}"/>
              </a:ext>
            </a:extLst>
          </p:cNvPr>
          <p:cNvPicPr>
            <a:picLocks noChangeAspect="1"/>
          </p:cNvPicPr>
          <p:nvPr/>
        </p:nvPicPr>
        <p:blipFill>
          <a:blip r:embed="rId3"/>
          <a:stretch>
            <a:fillRect/>
          </a:stretch>
        </p:blipFill>
        <p:spPr>
          <a:xfrm>
            <a:off x="2405501" y="4361119"/>
            <a:ext cx="3043578" cy="230384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37B0FA3-10D4-2F9D-473A-CEE8AB07A3F1}"/>
                  </a:ext>
                </a:extLst>
              </p:cNvPr>
              <p:cNvSpPr txBox="1"/>
              <p:nvPr/>
            </p:nvSpPr>
            <p:spPr>
              <a:xfrm>
                <a:off x="405946" y="1201586"/>
                <a:ext cx="6882091"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Diminishing Nutrient Returns: </a:t>
                </a:r>
                <a:r>
                  <a:rPr lang="en-IN" dirty="0"/>
                  <a:t>Fertilizer application in the excessive quartile (&gt;250 kg/ha) resulted in yield stagnation while inflating operational expenditure by ₹1,10,000+ per farm.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High Predictive Accuracy: </a:t>
                </a:r>
                <a:r>
                  <a:rPr lang="en-IN" dirty="0"/>
                  <a:t>The Random Forest Regressor predicted harvest yields with an </a:t>
                </a:r>
                <a14:m>
                  <m:oMath xmlns:m="http://schemas.openxmlformats.org/officeDocument/2006/math">
                    <m:sSup>
                      <m:sSupPr>
                        <m:ctrlPr>
                          <a:rPr lang="en-IN" b="0" i="1" smtClean="0">
                            <a:latin typeface="Cambria Math" panose="02040503050406030204" pitchFamily="18" charset="0"/>
                          </a:rPr>
                        </m:ctrlPr>
                      </m:sSupPr>
                      <m:e>
                        <m:r>
                          <a:rPr lang="en-IN" b="0" i="1" smtClean="0">
                            <a:latin typeface="Cambria Math" panose="02040503050406030204" pitchFamily="18" charset="0"/>
                          </a:rPr>
                          <m:t>𝑅</m:t>
                        </m:r>
                      </m:e>
                      <m:sup>
                        <m:r>
                          <a:rPr lang="en-IN" b="0" smtClean="0">
                            <a:latin typeface="Cambria Math" panose="02040503050406030204" pitchFamily="18" charset="0"/>
                          </a:rPr>
                          <m:t>2</m:t>
                        </m:r>
                      </m:sup>
                    </m:sSup>
                  </m:oMath>
                </a14:m>
                <a:r>
                  <a:rPr lang="en-IN" dirty="0"/>
                  <a:t>score of 0.88 and an RMSE of 1.45 tonnes/ha.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Primary Yield Determinants</a:t>
                </a:r>
                <a:r>
                  <a:rPr lang="en-IN" dirty="0"/>
                  <a:t>: Model feature importance established Soil Moisture, Seasonal Rainfall, Irrigation Type, and Seed Quality as the top four drivers of crop yield. </a:t>
                </a:r>
              </a:p>
              <a:p>
                <a:pPr marL="285750" indent="-285750">
                  <a:buFont typeface="Arial" panose="020B0604020202020204" pitchFamily="34" charset="0"/>
                  <a:buChar char="•"/>
                </a:pPr>
                <a:endParaRPr lang="en-IN" dirty="0"/>
              </a:p>
            </p:txBody>
          </p:sp>
        </mc:Choice>
        <mc:Fallback>
          <p:sp>
            <p:nvSpPr>
              <p:cNvPr id="2" name="TextBox 1">
                <a:extLst>
                  <a:ext uri="{FF2B5EF4-FFF2-40B4-BE49-F238E27FC236}">
                    <a16:creationId xmlns:a16="http://schemas.microsoft.com/office/drawing/2014/main" id="{937B0FA3-10D4-2F9D-473A-CEE8AB07A3F1}"/>
                  </a:ext>
                </a:extLst>
              </p:cNvPr>
              <p:cNvSpPr txBox="1">
                <a:spLocks noRot="1" noChangeAspect="1" noMove="1" noResize="1" noEditPoints="1" noAdjustHandles="1" noChangeArrowheads="1" noChangeShapeType="1" noTextEdit="1"/>
              </p:cNvSpPr>
              <p:nvPr/>
            </p:nvSpPr>
            <p:spPr>
              <a:xfrm>
                <a:off x="405946" y="1201586"/>
                <a:ext cx="6882091" cy="3693319"/>
              </a:xfrm>
              <a:prstGeom prst="rect">
                <a:avLst/>
              </a:prstGeom>
              <a:blipFill>
                <a:blip r:embed="rId3"/>
                <a:stretch>
                  <a:fillRect l="-620" t="-990" r="-177"/>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AD75299C-2518-274D-E2D0-92AA964ADA5E}"/>
              </a:ext>
            </a:extLst>
          </p:cNvPr>
          <p:cNvPicPr>
            <a:picLocks noChangeAspect="1"/>
          </p:cNvPicPr>
          <p:nvPr/>
        </p:nvPicPr>
        <p:blipFill>
          <a:blip r:embed="rId4"/>
          <a:stretch>
            <a:fillRect/>
          </a:stretch>
        </p:blipFill>
        <p:spPr>
          <a:xfrm>
            <a:off x="1028574" y="4678133"/>
            <a:ext cx="2818417" cy="1956562"/>
          </a:xfrm>
          <a:prstGeom prst="rect">
            <a:avLst/>
          </a:prstGeom>
        </p:spPr>
      </p:pic>
      <p:pic>
        <p:nvPicPr>
          <p:cNvPr id="11" name="Picture 10">
            <a:extLst>
              <a:ext uri="{FF2B5EF4-FFF2-40B4-BE49-F238E27FC236}">
                <a16:creationId xmlns:a16="http://schemas.microsoft.com/office/drawing/2014/main" id="{5FD21883-A995-0B58-30B1-B2C38A2AF1CA}"/>
              </a:ext>
            </a:extLst>
          </p:cNvPr>
          <p:cNvPicPr>
            <a:picLocks noChangeAspect="1"/>
          </p:cNvPicPr>
          <p:nvPr/>
        </p:nvPicPr>
        <p:blipFill>
          <a:blip r:embed="rId5"/>
          <a:stretch>
            <a:fillRect/>
          </a:stretch>
        </p:blipFill>
        <p:spPr>
          <a:xfrm>
            <a:off x="4587957" y="4664404"/>
            <a:ext cx="3016085" cy="197029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B8602C3-DF4C-0DE4-42C6-BCB500AC207B}"/>
              </a:ext>
            </a:extLst>
          </p:cNvPr>
          <p:cNvSpPr txBox="1"/>
          <p:nvPr/>
        </p:nvSpPr>
        <p:spPr>
          <a:xfrm>
            <a:off x="687602" y="1411470"/>
            <a:ext cx="7001653" cy="3693319"/>
          </a:xfrm>
          <a:prstGeom prst="rect">
            <a:avLst/>
          </a:prstGeom>
          <a:noFill/>
        </p:spPr>
        <p:txBody>
          <a:bodyPr wrap="square" rtlCol="0">
            <a:spAutoFit/>
          </a:bodyPr>
          <a:lstStyle/>
          <a:p>
            <a:pPr marL="285750" lvl="0" indent="-285750">
              <a:buFont typeface="Arial" panose="020B0604020202020204" pitchFamily="34" charset="0"/>
              <a:buChar char="•"/>
            </a:pPr>
            <a:r>
              <a:rPr lang="en-IN" b="1" dirty="0"/>
              <a:t>IoT Sensor Integration:</a:t>
            </a:r>
            <a:r>
              <a:rPr lang="en-IN" dirty="0"/>
              <a:t> Incorporating real-time soil moisture and ambient temperature feeds from telemetry devices for dynamic farm-level advisories.</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Satellite Remote Sensing:</a:t>
            </a:r>
            <a:r>
              <a:rPr lang="en-IN" dirty="0"/>
              <a:t> Pairing field records with Sentinel-2 NDVI spectral data to assess crop vegetative </a:t>
            </a:r>
            <a:r>
              <a:rPr lang="en-IN" dirty="0" err="1"/>
              <a:t>vigor</a:t>
            </a:r>
            <a:r>
              <a:rPr lang="en-IN" dirty="0"/>
              <a:t> and disease spread before harvest.</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b="1" dirty="0"/>
              <a:t>Interactive Decision Support Tool:</a:t>
            </a:r>
            <a:r>
              <a:rPr lang="en-IN" dirty="0"/>
              <a:t> Deploying an interactive </a:t>
            </a:r>
            <a:r>
              <a:rPr lang="en-IN" dirty="0" err="1"/>
              <a:t>Streamlit</a:t>
            </a:r>
            <a:r>
              <a:rPr lang="en-IN" dirty="0"/>
              <a:t>/</a:t>
            </a:r>
            <a:r>
              <a:rPr lang="en-IN" dirty="0" err="1"/>
              <a:t>Gradio</a:t>
            </a:r>
            <a:r>
              <a:rPr lang="en-IN" dirty="0"/>
              <a:t> web dashboard enabling farmers to input local season and soil parameters for prescriptive crop recommendations.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https://github.com/alyana-pradeep/Seasonal-Agriculture-Performance-Analysis.git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B16E8EC-071C-0729-2A6D-3468CEFAD5E9}"/>
              </a:ext>
            </a:extLst>
          </p:cNvPr>
          <p:cNvPicPr>
            <a:picLocks noChangeAspect="1"/>
          </p:cNvPicPr>
          <p:nvPr/>
        </p:nvPicPr>
        <p:blipFill>
          <a:blip r:embed="rId3"/>
          <a:stretch>
            <a:fillRect/>
          </a:stretch>
        </p:blipFill>
        <p:spPr>
          <a:xfrm>
            <a:off x="1627115" y="1608410"/>
            <a:ext cx="6602485" cy="465819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1405</TotalTime>
  <Words>902</Words>
  <Application>Microsoft Office PowerPoint</Application>
  <PresentationFormat>Widescreen</PresentationFormat>
  <Paragraphs>61</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Cambria Math</vt:lpstr>
      <vt:lpstr>Times New Roman</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Alyana Pradeep kumar</cp:lastModifiedBy>
  <cp:revision>100</cp:revision>
  <dcterms:created xsi:type="dcterms:W3CDTF">2021-07-11T13:13:15Z</dcterms:created>
  <dcterms:modified xsi:type="dcterms:W3CDTF">2026-09-08T08:21:57Z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